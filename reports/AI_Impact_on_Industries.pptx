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9722815" cy="20116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Where AI news says AI is changing industries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069080"/>
            <a:ext cx="88084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B9C6DA"/>
                </a:solidFill>
                <a:latin typeface="Calibri"/>
              </a:rPr>
              <a:t>Topic, entity and sentiment evidence from 125K de-duplicated AI news articles, 2022–2026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9C6DA"/>
                </a:solidFill>
                <a:latin typeface="Calibri"/>
              </a:rPr>
              <a:t>Chiyang (Tom) Chen  ·  ADSP 32018 Next-Gen NLP  ·  University of Chicago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Three research questions, one number each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3484778" cy="274320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423160"/>
            <a:ext cx="293613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78D6"/>
                </a:solidFill>
                <a:latin typeface="Calibri"/>
              </a:rPr>
              <a:t>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474720"/>
            <a:ext cx="293613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of AI news discusses software &amp;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4023360"/>
            <a:ext cx="293613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Among sectors adopting AI, media (16%), government (9%) and healthcare (8%) get the most coverage.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3458" y="2103120"/>
            <a:ext cx="3484778" cy="274320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7778" y="2423160"/>
            <a:ext cx="293613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78D6"/>
                </a:solidFill>
                <a:latin typeface="Calibri"/>
              </a:rPr>
              <a:t>+0.89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7778" y="3474720"/>
            <a:ext cx="293613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net framing for manufacturing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7778" y="4023360"/>
            <a:ext cx="293613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vs. +0.21 for media; a separately trained entity sentiment model ranks industries alike (ρ = 0.96).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8276" y="2103120"/>
            <a:ext cx="3484778" cy="274320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2596" y="2423160"/>
            <a:ext cx="293613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78D6"/>
                </a:solidFill>
                <a:latin typeface="Calibri"/>
              </a:rPr>
              <a:t>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2596" y="3474720"/>
            <a:ext cx="293613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setback rate when regulation is the barrier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2596" y="4023360"/>
            <a:ext cx="293613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vs. 26% for all adoption stories; talent and integration barriers sit below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Why industry impact is uneven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The brief: identify impacted industries and companies, how they are impacted, and what makes adoption succeed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3484778" cy="420624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194560"/>
            <a:ext cx="293613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Calibri"/>
              </a:rPr>
              <a:t>Exposure estimates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834640"/>
            <a:ext cx="2936138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 Goldman Sachs (2023): about a quarter of work tasks in the US and Europe could be automated by AI.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 Exposure is uneven: office and administrative work, legal, architecture and social sciences above 30%; construction, installation and building maintenance largely unaffected.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3458" y="1920240"/>
            <a:ext cx="3484778" cy="420624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7778" y="2194560"/>
            <a:ext cx="293613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Calibri"/>
              </a:rPr>
              <a:t>Moravec's paradox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7778" y="2834640"/>
            <a:ext cx="2936138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 Abstract reasoning is easier to automate than sensorimotor skill.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 Implies cognitive, text-heavy sectors are more exposed than physical 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8276" y="1920240"/>
            <a:ext cx="3484778" cy="420624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2596" y="2194560"/>
            <a:ext cx="293613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Calibri"/>
              </a:rPr>
              <a:t>What this project adds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2596" y="2834640"/>
            <a:ext cx="2936138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 Evidence from 125K AI news articles: which sectors coverage links to AI, in which direction, through which mechanism, and under what conditions adoption stalls.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Three questions about AI's industry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Measured on news coverage, which reflects what is reported, not realized economic effects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3484778" cy="420624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194560"/>
            <a:ext cx="293613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Calibri"/>
              </a:rPr>
              <a:t>1  Which industries?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834640"/>
            <a:ext cx="2936138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 Share of articles that discuss each industry, from an LLM-labeled random sample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 Change in share before ChatGPT vs. the last 12 months, on the full corpus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 Supply side (software, chips) separated from adopting sectors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3458" y="1920240"/>
            <a:ext cx="3484778" cy="420624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7778" y="2194560"/>
            <a:ext cx="293613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Calibri"/>
              </a:rPr>
              <a:t>2  Which direction, and how?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7778" y="2834640"/>
            <a:ext cx="2936138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 Article-level framing of AI's effect on the industry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 Entity-level sentiment from a fine-tuned roberta-large classifier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 Mechanisms: automation, augmentation, cost, new offerings, workflow redesign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8276" y="1920240"/>
            <a:ext cx="3484778" cy="420624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2596" y="2194560"/>
            <a:ext cx="293613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Calibri"/>
              </a:rPr>
              <a:t>3  What makes adoption work?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2596" y="2834640"/>
            <a:ext cx="2936138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 Adoption outcome per article: deployed, pilot, setback, product launch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 Enablers and barriers named in the article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 Setback rate among adoption stories that cite each barrier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From 200K scraped pages to a de-duplicated analysis corpus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1696669" cy="160020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645919"/>
            <a:ext cx="136748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20240"/>
            <a:ext cx="136748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B0B0B"/>
                </a:solidFill>
                <a:latin typeface="Calibri"/>
              </a:rPr>
              <a:t>AI 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31720"/>
            <a:ext cx="136748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Block and sentence classifiers (DistilRoBERTa, DeepSeek labels) keep AI content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8189" y="1508760"/>
            <a:ext cx="1696669" cy="160020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92781" y="1645919"/>
            <a:ext cx="136748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2781" y="1920240"/>
            <a:ext cx="136748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B0B0B"/>
                </a:solidFill>
                <a:latin typeface="Calibri"/>
              </a:rPr>
              <a:t>De-duplicate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2781" y="2331720"/>
            <a:ext cx="136748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Language ID and MinHash LSH remove 49,941 syndicated copies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7738" y="1508760"/>
            <a:ext cx="1696669" cy="160020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2330" y="1645919"/>
            <a:ext cx="136748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2330" y="1920240"/>
            <a:ext cx="136748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B0B0B"/>
                </a:solidFill>
                <a:latin typeface="Calibri"/>
              </a:rPr>
              <a:t>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330" y="2331720"/>
            <a:ext cx="136748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BERTopic on 401K blocks, GPU UMAP + HDBSCAN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1508760"/>
            <a:ext cx="1696669" cy="160020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1879" y="1645919"/>
            <a:ext cx="136748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1879" y="1920240"/>
            <a:ext cx="136748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B0B0B"/>
                </a:solidFill>
                <a:latin typeface="Calibri"/>
              </a:rPr>
              <a:t>Entities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1879" y="2331720"/>
            <a:ext cx="136748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GLiNER mentions, alias merge and LLM review of the top 15K entities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6836" y="1508760"/>
            <a:ext cx="1696669" cy="160020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1428" y="1645919"/>
            <a:ext cx="136748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1428" y="1920240"/>
            <a:ext cx="136748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B0B0B"/>
                </a:solidFill>
                <a:latin typeface="Calibri"/>
              </a:rPr>
              <a:t>Sentiment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1428" y="2331720"/>
            <a:ext cx="136748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roberta-large scores 502K entity–context pairs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46386" y="1508760"/>
            <a:ext cx="1696669" cy="160020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10978" y="1645919"/>
            <a:ext cx="136748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0978" y="1920240"/>
            <a:ext cx="136748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B0B0B"/>
                </a:solidFill>
                <a:latin typeface="Calibri"/>
              </a:rPr>
              <a:t>Industry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10978" y="2331720"/>
            <a:ext cx="136748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LLM labels on 15K sampled articles, classifier for the rest</a:t>
            </a:r>
          </a:p>
        </p:txBody>
      </p:sp>
      <p:pic>
        <p:nvPicPr>
          <p:cNvPr id="27" name="Picture 26" descr="f01_corpus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919" y="3383279"/>
            <a:ext cx="8441856" cy="29260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LLM labeling: deepseek-flash, temperature 0, JSON output.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Cleaning and filtering: from web crawl to AI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199,989 crawled articles → 181,008 with AI content → 124,741 distinct stories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2533573" cy="274320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423160"/>
            <a:ext cx="198493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78D6"/>
                </a:solidFill>
                <a:latin typeface="Calibri"/>
              </a:rPr>
              <a:t>0.86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474720"/>
            <a:ext cx="198493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block classifier 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4023360"/>
            <a:ext cx="198493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DistilRoBERTa on 12,000 DeepSeek-labeled paragraphs (35% AI); threshold 0.58; keeps 1.18M AI paragraphs.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2253" y="2103120"/>
            <a:ext cx="2533573" cy="274320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6573" y="2423160"/>
            <a:ext cx="198493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78D6"/>
                </a:solidFill>
                <a:latin typeface="Calibri"/>
              </a:rPr>
              <a:t>0.96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6573" y="3474720"/>
            <a:ext cx="198493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sentence classifier 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6573" y="4023360"/>
            <a:ext cx="198493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separates article content from boilerplate on 7,302 labeled sentences; rebuilds 732K clean paragraphs.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2103120"/>
            <a:ext cx="2533573" cy="274320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0187" y="2423160"/>
            <a:ext cx="198493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78D6"/>
                </a:solidFill>
                <a:latin typeface="Calibri"/>
              </a:rPr>
              <a:t>49.9K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0187" y="3474720"/>
            <a:ext cx="198493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syndicated copies removed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0187" y="4023360"/>
            <a:ext cx="198493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MinHash LSH on word 5-shingles (Jaccard ≥ 0.8); the earliest copy of each story is kept.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9481" y="2103120"/>
            <a:ext cx="2533573" cy="274320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83801" y="2423160"/>
            <a:ext cx="198493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78D6"/>
                </a:solidFill>
                <a:latin typeface="Calibri"/>
              </a:rPr>
              <a:t>779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3801" y="3474720"/>
            <a:ext cx="198493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non-English pages removed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3801" y="4023360"/>
            <a:ext cx="198493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fastText language ID, although the source field labels every page English.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F1 on the validation split of the LLM labels, where the threshold was also chosen (02B, 02D).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The largest single theme is AI policy; sector themes are smaller but distinct</a:t>
            </a:r>
          </a:p>
        </p:txBody>
      </p:sp>
      <p:pic>
        <p:nvPicPr>
          <p:cNvPr id="3" name="Picture 2" descr="f12_topics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22" y="1463040"/>
            <a:ext cx="6406954" cy="4800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58200" y="1463040"/>
            <a:ext cx="3184855" cy="408683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1737360"/>
            <a:ext cx="2636215" cy="3629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79 topics over 400,662 paragraphs; labels written by the LLM from keywords and sample passages.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Largest: AI Safety Policy Summits (16,855 articles), AI in Customer Experience (10,644), India AI Global Partnerships (9,112).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Sector topics such as healthcare, lending, education and entertainment each hold 3–9K articles.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BERTopic with all-mpnet-base-v2 embeddings; an article counts toward every topic it has a paragraph 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Healthcare led early AI coverage; chatbot and AI-investment topics grew after ChatGPT</a:t>
            </a:r>
          </a:p>
        </p:txBody>
      </p:sp>
      <p:pic>
        <p:nvPicPr>
          <p:cNvPr id="3" name="Picture 2" descr="f14_topic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601" y="1463040"/>
            <a:ext cx="6567596" cy="4800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58200" y="1463040"/>
            <a:ext cx="3184855" cy="3593054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1737360"/>
            <a:ext cx="2636215" cy="31358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AI in Healthcare and Pharma: -9 pp of articles, 2022 Q1–Q3 vs. the last four full quarters.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Largest gains: OpenAI and SoftBank investment (+5 pp), OpenAI GPT-4o Chatbot (+4 pp).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The chatbot topic peaks in 2023 Q1, the quarter after ChatGPT's release.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Share of each quarter's articles with at least one paragraph in the topic.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OpenAI, ChatGPT and Google lead entity coverage by a wide margin</a:t>
            </a:r>
          </a:p>
        </p:txBody>
      </p:sp>
      <p:pic>
        <p:nvPicPr>
          <p:cNvPr id="3" name="Picture 2" descr="f16_entity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1230"/>
            <a:ext cx="7589520" cy="376421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58200" y="1463040"/>
            <a:ext cx="3184855" cy="3382473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1737360"/>
            <a:ext cx="2636215" cy="2925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GLiNER (large-v2.1) finds 5.1M mentions; 2,305 canonical entities appear in 30+ articles.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The LLM reviewed the 15K most-covered candidates and dropped 3,859 vague or broken ones.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ChatGPT alone merges 21 spelling variants.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Article counts after canonicalization (suffix stripping, alias table, LLM review).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A fine-tuned roberta-large scores AI impact toward each entity in context</a:t>
            </a:r>
          </a:p>
        </p:txBody>
      </p:sp>
      <p:pic>
        <p:nvPicPr>
          <p:cNvPr id="3" name="Picture 2" descr="f13_sentiment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857" y="1463040"/>
            <a:ext cx="6211085" cy="4800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58200" y="1463040"/>
            <a:ext cx="3184855" cy="4304672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1737360"/>
            <a:ext cx="2636215" cy="38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Training data: 8,999 entity–context pairs labeled by DeepSeek (57% positive, 30% mixed, 13% negative).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Input: target entity, type, title, source, instruction and a 1,400-character window; split by entity, so no entity is in both train and validation.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Validation macro-F1 0.82; fresh test set 0.75. The model over-predicts negative (precision 0.55).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Classifier trained in 06B; test labels from deepseek-flash on pairs never used in training (06C).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How much to trust the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All model checks are against held-out LLM labels; there is no human-annotated gold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2533573" cy="274320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423160"/>
            <a:ext cx="198493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78D6"/>
                </a:solidFill>
                <a:latin typeface="Calibri"/>
              </a:rPr>
              <a:t>0.75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474720"/>
            <a:ext cx="198493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sentiment macro-F1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4023360"/>
            <a:ext cx="198493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on 1,500 fresh entity–context pairs labeled by the LLM, never seen in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2253" y="2103120"/>
            <a:ext cx="2533573" cy="274320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6573" y="2423160"/>
            <a:ext cx="198493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78D6"/>
                </a:solidFill>
                <a:latin typeface="Calibri"/>
              </a:rPr>
              <a:t>86%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6573" y="3474720"/>
            <a:ext cx="198493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labeler agreement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6573" y="4023360"/>
            <a:ext cx="198493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between deepseek-chat (06A labels) and deepseek-flash on 300 validation items (κ = 0.75).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2103120"/>
            <a:ext cx="2533573" cy="274320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0187" y="2423160"/>
            <a:ext cx="198493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78D6"/>
                </a:solidFill>
                <a:latin typeface="Calibri"/>
              </a:rPr>
              <a:t>0.65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0187" y="3474720"/>
            <a:ext cx="198493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median industry 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0187" y="4023360"/>
            <a:ext cx="198493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of the embedding classifier vs. held-out LLM labels (range 0.49–0.84).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9481" y="2103120"/>
            <a:ext cx="2533573" cy="274320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83801" y="2423160"/>
            <a:ext cx="198493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78D6"/>
                </a:solidFill>
                <a:latin typeface="Calibri"/>
              </a:rPr>
              <a:t>1.5%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3801" y="3474720"/>
            <a:ext cx="198493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topic outliers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3801" y="4023360"/>
            <a:ext cx="198493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after embedding-based outlier reassignment (43% before).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Among adopting sectors, media, government and healthcare get the most AI coverage</a:t>
            </a:r>
          </a:p>
        </p:txBody>
      </p:sp>
      <p:pic>
        <p:nvPicPr>
          <p:cNvPr id="3" name="Picture 2" descr="f02_industry_expo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96910"/>
            <a:ext cx="7589520" cy="373285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58200" y="1463040"/>
            <a:ext cx="3184855" cy="3288074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1737360"/>
            <a:ext cx="2636215" cy="2830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Half of all AI articles (50%) are about software and IT; semiconductors add 10%.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14% of articles discuss AI without naming any sector.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Excluding press releases moves no sector's share by more than 0.9 points.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LLM labels on a random sample of 15,001 articles; 95% bootstrap intervals.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After ChatGPT, coverage moved to the AI supply side and away from healthcare</a:t>
            </a:r>
          </a:p>
        </p:txBody>
      </p:sp>
      <p:pic>
        <p:nvPicPr>
          <p:cNvPr id="3" name="Picture 2" descr="f03_industry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95" y="1463040"/>
            <a:ext cx="7423608" cy="4800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58200" y="1463040"/>
            <a:ext cx="3184855" cy="3259029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1737360"/>
            <a:ext cx="2636215" cy="28018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Software &amp; IT +15 pp and semiconductors +7.5 pp of all articles.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Healthcare fell from 15% to 5%; transport and manufacturing also shrank.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Shares, not volumes: the corpus grew several-fold after late 2022.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All analysis articles; industry from the embedding classifier. Pre-ChatGPT = before 2022-11-30.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AI is framed most positively for manufacturing and healthcare, least for legal services and media</a:t>
            </a:r>
          </a:p>
        </p:txBody>
      </p:sp>
      <p:pic>
        <p:nvPicPr>
          <p:cNvPr id="3" name="Picture 2" descr="f05_direction_by_indu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2791"/>
            <a:ext cx="7589520" cy="440109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58200" y="1463040"/>
            <a:ext cx="3184855" cy="3789112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1737360"/>
            <a:ext cx="2636215" cy="3331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Media &amp; entertainment: 19% of articles negative, the highest of any sector; manufacturing: 1%.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The entity-sentiment classifier (06C), a different model and unit, ranks industries the same way (Spearman ρ = 0.96).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Neutral means the article reports facts without a stated effect.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Article framing from LLM labels; industries with at least 150 sampled articles.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Automation outweighs augmentation in manufacturing, telecom and finance; augmentation leads in healthcare and education</a:t>
            </a:r>
          </a:p>
        </p:txBody>
      </p:sp>
      <p:pic>
        <p:nvPicPr>
          <p:cNvPr id="3" name="Picture 2" descr="f06_mechanism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191" y="1463040"/>
            <a:ext cx="6244416" cy="480059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58200" y="1463040"/>
            <a:ext cx="3184855" cy="3672929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1737360"/>
            <a:ext cx="2636215" cy="32157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Across sector articles, new offerings are named most (46%), then augmentation (29%) and automation (25%).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Automation exceeds augmentation by more than 5 points in 5 adopting sectors, the reverse holds in 2.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Energy is the cost story: 53% cite cost or efficiency.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Share of each industry's sampled articles that state the mechanism; articles can name several.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Infrastructure vendors get the warmest coverage; frontier labs and controversy-linked firms the coolest</a:t>
            </a:r>
          </a:p>
        </p:txBody>
      </p:sp>
      <p:pic>
        <p:nvPicPr>
          <p:cNvPr id="3" name="Picture 2" descr="f07_entity_sentiment_compan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877" y="1463040"/>
            <a:ext cx="5901045" cy="4800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58200" y="1463040"/>
            <a:ext cx="3184855" cy="2917742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1737360"/>
            <a:ext cx="2636215" cy="24605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Highest: AWS, Samsung, Salesforce (index 0.45 to 0.37).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OpenAI 0.11, Google 0.13: the most-covered firms sit near the bottom.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Below zero: Tesla, DeepSeek, 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Sentiment index = mean P(positive) − P(negative) per article; up to 3,000 random contexts per entity.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Security, misinformation and legal topics carry the most negative sentiment</a:t>
            </a:r>
          </a:p>
        </p:txBody>
      </p:sp>
      <p:pic>
        <p:nvPicPr>
          <p:cNvPr id="3" name="Picture 2" descr="f15_topic_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634" y="1463040"/>
            <a:ext cx="6213530" cy="4800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58200" y="1463040"/>
            <a:ext cx="3184855" cy="3752805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1737360"/>
            <a:ext cx="2636215" cy="3295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Most negative: AI-Enabled Cybercrime (-0.58), OpenAI FTC Investigation (-0.54), AI election misinformation (-0.53).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Most positive: AI in Agriculture (0.73), Snowflake Data Cloud Platform, AI in Aerospace Manufacturing.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77 coherent topics with at least 200 scored articles.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Entity-level sentiment of mentions in each topic's paragraphs, averaged per article; 95% bootstrap intervals.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Entity sentiment dropped after ChatGPT's launch and has stayed below its 2022 level</a:t>
            </a:r>
          </a:p>
        </p:txBody>
      </p:sp>
      <p:pic>
        <p:nvPicPr>
          <p:cNvPr id="3" name="Picture 2" descr="f09_sentiment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44133"/>
            <a:ext cx="7589520" cy="403841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58200" y="1463040"/>
            <a:ext cx="3184855" cy="3077493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1737360"/>
            <a:ext cx="2636215" cy="2620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Article-weighted index: 0.41 in 2022, 0.27 in 2023, 0.31 in 2025.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Press releases run slightly warmer, but excluding them does not change the pattern.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Lowest month: 2023-04 (0.14).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Monthly mean over articles of entity-level sentiment; 95% bootstrap band.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Education sentiment collapsed after ChatGPT and recovered; media sentiment slid until 2024</a:t>
            </a:r>
          </a:p>
        </p:txBody>
      </p:sp>
      <p:pic>
        <p:nvPicPr>
          <p:cNvPr id="3" name="Picture 2" descr="f17_sentiment_trend_indus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6531"/>
            <a:ext cx="7589520" cy="461361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58200" y="1463040"/>
            <a:ext cx="3184855" cy="3324381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1737360"/>
            <a:ext cx="2636215" cy="2867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Education fell from 0.43 to 0.06 in 2023 Q1, then recovered to about 0.44.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Media slid from 0.39 in 2022 Q1 to 0.03 at its low and ends at 0.23.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Healthcare stays the most positive sector through most of the period.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Quarterly article-level index; industry from the embedding classifier; quarters with ≥ 30 scored articles.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Among AI companies, Nvidia stays the most positive; OpenAI and Meta the least</a:t>
            </a:r>
          </a:p>
        </p:txBody>
      </p:sp>
      <p:pic>
        <p:nvPicPr>
          <p:cNvPr id="3" name="Picture 2" descr="f18_sentiment_trend_compan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20" y="1463040"/>
            <a:ext cx="7366958" cy="4800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58200" y="1463040"/>
            <a:ext cx="3184855" cy="2802367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1737360"/>
            <a:ext cx="2636215" cy="2345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Average index since 2023: Nvidia 0.37, Anthropic 0.24, Microsoft 0.20, Google 0.14, Meta 0.12, OpenAI 0.10.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Single quarters move by ±0.1 or more; compare averages rather than individual points.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Up to 3,000 random contexts per company; quarters with ≥ 30 scored articles.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Trust &amp; safety and regulation &amp; policy are the most-cited barriers; partnerships the most-cited enabler</a:t>
            </a:r>
          </a:p>
        </p:txBody>
      </p:sp>
      <p:pic>
        <p:nvPicPr>
          <p:cNvPr id="3" name="Picture 2" descr="f10_adoption_fa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10017"/>
            <a:ext cx="7589520" cy="390664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58200" y="1463040"/>
            <a:ext cx="3184855" cy="3302597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1737360"/>
            <a:ext cx="2636215" cy="2845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Trust &amp; safety is named as a barrier in 21% of articles, regulation &amp; policy in 12%.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Partnerships appear almost only as enablers (18%).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Shares are of all 15,001 sampled articles; up to four factors per article.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LLM labels on the article sample; up to four factors per article.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Barriers of regulation &amp; policy, leadership &amp; strategy, trust &amp; safety and data coincide with setbacks; integration and talent &amp; skills barriers do not</a:t>
            </a:r>
          </a:p>
        </p:txBody>
      </p:sp>
      <p:pic>
        <p:nvPicPr>
          <p:cNvPr id="3" name="Picture 2" descr="f11_setback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90276"/>
            <a:ext cx="7589520" cy="454612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58200" y="1463040"/>
            <a:ext cx="3184855" cy="3571269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1737360"/>
            <a:ext cx="2636215" cy="3114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Among adoption stories, 26% report a setback overall.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When the barrier is regulation &amp; policy: 67%; leadership &amp; strategy: 61%.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Integration and talent &amp; skills barriers sit below the baseline: they are reported alongside deployments that go ahead.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Setback rate = setback / (deployed + setback). Associations in coverage, not causal effects.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983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Takeaways and limits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5387187" cy="4480560"/>
          </a:xfrm>
          <a:prstGeom prst="roundRect">
            <a:avLst>
              <a:gd name="adj" fmla="val 6000"/>
            </a:avLst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920240"/>
            <a:ext cx="48385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What the coverage 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560320"/>
            <a:ext cx="4838547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B9C6DA"/>
                </a:solidFill>
                <a:latin typeface="Calibri"/>
              </a:rPr>
              <a:t>•  AI news is mostly about the AI industry itself; among adopters, media, government and healthcare lead.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B9C6DA"/>
                </a:solidFill>
                <a:latin typeface="Calibri"/>
              </a:rPr>
              <a:t>•  Framing is positive almost everywhere; media and legal services are the most contested sectors, followed by government.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B9C6DA"/>
                </a:solidFill>
                <a:latin typeface="Calibri"/>
              </a:rPr>
              <a:t>•  Setbacks coincide with regulation, leadership and trust barriers far more often than with skills or integration barriers.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B9C6DA"/>
                </a:solidFill>
                <a:latin typeface="Calibri"/>
              </a:rPr>
              <a:t>•  In line with Goldman Sachs and Moravec: legal coverage is automation-heavy (45% cite automation), while construction and agriculture are the least-covered sectors (under 1% of articles each).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5867" y="1645920"/>
            <a:ext cx="5387187" cy="4480560"/>
          </a:xfrm>
          <a:prstGeom prst="roundRect">
            <a:avLst>
              <a:gd name="adj" fmla="val 6000"/>
            </a:avLst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0187" y="1920240"/>
            <a:ext cx="48385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What it cannot show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0187" y="2560320"/>
            <a:ext cx="4838547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B9C6DA"/>
                </a:solidFill>
                <a:latin typeface="Calibri"/>
              </a:rPr>
              <a:t>•  News reflects what is reported and promoted, not realized productivity or job effects.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B9C6DA"/>
                </a:solidFill>
                <a:latin typeface="Calibri"/>
              </a:rPr>
              <a:t>•  Labels come from one LLM family; model scores are agreement with it, not human judgment.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B9C6DA"/>
                </a:solidFill>
                <a:latin typeface="Calibri"/>
              </a:rPr>
              <a:t>•  Industry shares outside the labeled sample depend on a classifier (F1 0.49–0.84).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B9C6DA"/>
                </a:solidFill>
                <a:latin typeface="Calibri"/>
              </a:rPr>
              <a:t>•  The upstream AI filter keeps 91% of documents, so some off-topic text remains.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B9C6DA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